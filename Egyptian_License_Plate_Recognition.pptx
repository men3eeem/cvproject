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Egyptian License Plate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### A Multi-Stage Computer Vision Pipeline for Complex Environments</a:t>
            </a:r>
          </a:p>
          <a:p>
            <a:r>
              <a:t>**Team Members:** 1, 2, 3, 4,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Real-World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Growing urban density and traffic congestion</a:t>
            </a:r>
          </a:p>
          <a:p>
            <a:r>
              <a:t>* Manual monitoring is slow and error-prone</a:t>
            </a:r>
          </a:p>
          <a:p>
            <a:r>
              <a:t>* Need for scalable, automated tracking of vehicles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Automated License Plate Recognition?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**Smart Parking:** Ticketless entry and exit</a:t>
            </a:r>
          </a:p>
          <a:p>
            <a:r>
              <a:t>* **Traffic Monitoring:** Tracking speed and congestion</a:t>
            </a:r>
          </a:p>
          <a:p>
            <a:r>
              <a:t>* **Access Control:** Automated gates for residential &amp; commercial zones</a:t>
            </a:r>
          </a:p>
          <a:p>
            <a:r>
              <a:t>* **Security &amp; Law Enforcement:** Identifying specific vehicles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Egyptian Plates Are Challenging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**Multilingual:** Arabic letters mixed with numbers</a:t>
            </a:r>
          </a:p>
          <a:p>
            <a:r>
              <a:t>* **Numerals:** Uses both Western digits (1, 2, 3) and Arabic-Indic numerals (١, ٢, ٣)</a:t>
            </a:r>
          </a:p>
          <a:p>
            <a:r>
              <a:t>* **Design:** Intrusive blue header can confuse text detectors</a:t>
            </a:r>
          </a:p>
          <a:p>
            <a:r>
              <a:t>* **Environment:** Perspective distortion, motion blur, and varying lighting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robust, multi-stage AI pipeline designed to:</a:t>
            </a:r>
          </a:p>
          <a:p>
            <a:r>
              <a:t>1. Detect vehicles in images and video</a:t>
            </a:r>
          </a:p>
          <a:p>
            <a:r>
              <a:t>2. Extract Egyptian license plates accurately</a:t>
            </a:r>
          </a:p>
          <a:p>
            <a:r>
              <a:t>3. Process and recognize Arabic text and varying numeral formats</a:t>
            </a:r>
          </a:p>
          <a:p>
            <a:r>
              <a:t>4. Function effectively in real-world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```mermaid</a:t>
            </a:r>
          </a:p>
          <a:p>
            <a:r>
              <a:t>flowchart TD</a:t>
            </a:r>
          </a:p>
          <a:p>
            <a:r>
              <a:t>A[Original YOLO Dataset] --&gt; B[Class Mapping via data.yaml]</a:t>
            </a:r>
          </a:p>
          <a:p>
            <a:r>
              <a:t>B --&gt; C[Keep 4 Target Classes: Car, Truck, Bus, Motorcycle]</a:t>
            </a:r>
          </a:p>
          <a:p>
            <a:r>
              <a:t>C --&gt; D[Remove Unwanted Classes from Labels]</a:t>
            </a:r>
          </a:p>
          <a:p>
            <a:r>
              <a:t>D --&gt; E[Remap Class IDs to 0-3]</a:t>
            </a:r>
          </a:p>
          <a:p>
            <a:r>
              <a:t>E --&gt; F[Fixed Seed Shuffle &amp; Split: 80% Train | 10% Val | 10% Test]</a:t>
            </a:r>
          </a:p>
          <a:p>
            <a:r>
              <a:t>F --&gt; G[Remove Empty Images]</a:t>
            </a:r>
          </a:p>
          <a:p>
            <a:r>
              <a:t>G --&gt; H[Clean YOLO Dataset &amp; Training]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```mermaid</a:t>
            </a:r>
          </a:p>
          <a:p>
            <a:r>
              <a:t>flowchart LR</a:t>
            </a:r>
          </a:p>
          <a:p>
            <a:r>
              <a:t>A[Input Image] --&gt; B[Vehicle Detection]</a:t>
            </a:r>
          </a:p>
          <a:p>
            <a:r>
              <a:t>B --&gt; C[Plate Detection]</a:t>
            </a:r>
          </a:p>
          <a:p>
            <a:r>
              <a:t>C --&gt; D[Vehicle-Plate Matching]</a:t>
            </a:r>
          </a:p>
          <a:p>
            <a:r>
              <a:t>D --&gt; E[OCR &amp; Preprocessing]</a:t>
            </a:r>
          </a:p>
          <a:p>
            <a:r>
              <a:t>E --&gt; F[Final Output]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**PERSON 1:** Vehicle Detection</a:t>
            </a:r>
          </a:p>
          <a:p>
            <a:r>
              <a:t>* **PERSON 2:** License Plate Detection</a:t>
            </a:r>
          </a:p>
          <a:p>
            <a:r>
              <a:t>* **PERSON 3:** Vehicle–Plate Matching</a:t>
            </a:r>
          </a:p>
          <a:p>
            <a:r>
              <a:t>* **PERSON 4:** Arabic License Plate OCR &amp; Preprocessing</a:t>
            </a:r>
          </a:p>
          <a:p>
            <a:r>
              <a:t>* **PERSON 5:** Full Pipeline Integration &amp; Video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Detection: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**Why start here?**</a:t>
            </a:r>
          </a:p>
          <a:p>
            <a:r>
              <a:t>* Searching an entire 4K image for a tiny plate causes false positives.</a:t>
            </a:r>
          </a:p>
          <a:p>
            <a:r>
              <a:t>* Narrows the search area significantly.</a:t>
            </a:r>
          </a:p>
          <a:p>
            <a:r>
              <a:t>* Provides context: what type of vehicle does the plate belong to?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YOLOv8?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**Fast inference** — suitable for processing image and video input.</a:t>
            </a:r>
          </a:p>
          <a:p>
            <a:r>
              <a:t>* **Good detection accuracy** — strong performance for object detection.</a:t>
            </a:r>
          </a:p>
          <a:p>
            <a:r>
              <a:t>* **Suitable for small objects** — important for detecting license plates inside vehicle scenes.</a:t>
            </a:r>
          </a:p>
          <a:p>
            <a:r>
              <a:t>* **Easy fine-tuning** — can be trained on project-specific datasets.</a:t>
            </a:r>
          </a:p>
          <a:p>
            <a:r>
              <a:t>* **Lightweight deployment** — Nano variants provide excellent efficiency.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Detection Model — YOLOv8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**Architecture:** YOLOv8 Nano (`vehicle_best.pt`)</a:t>
            </a:r>
          </a:p>
          <a:p>
            <a:r>
              <a:t>* **Target Classes:** 4 (Car, Truck, Bus, Motorcycle)</a:t>
            </a:r>
          </a:p>
          <a:p>
            <a:r>
              <a:t>* **Confidence Threshold:** 0.35</a:t>
            </a:r>
          </a:p>
          <a:p>
            <a:r>
              <a:t>* **Role:** Serve as the foundational step by identifying vehicles before searching for plates.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Dataset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Dataset cleaned and filtered specifically for this project's requirements.</a:t>
            </a:r>
          </a:p>
          <a:p>
            <a:r>
              <a:t>* Unwanted classes explicitly removed from label files.</a:t>
            </a:r>
          </a:p>
          <a:p>
            <a:r>
              <a:t>* Guaranteed clean 80/10/10 split for Train/Validation/Test.</a:t>
            </a:r>
          </a:p>
          <a:p>
            <a:r>
              <a:t>* Model trained entirely on this customized subset.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Model Training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Precision | Recall | mAP@50 | mAP@50–95 |</a:t>
            </a:r>
          </a:p>
          <a:p>
            <a:r>
              <a:t>| :---: | :---: | :---: | :---: |</a:t>
            </a:r>
          </a:p>
          <a:p>
            <a:r>
              <a:t>| **97.74%** | **95.08%** | **98.41%** | **89.35%** |</a:t>
            </a:r>
          </a:p>
          <a:p/>
          <a:p>
            <a:r>
              <a:t>* **Precision:** Measures how many of the vehicle detections made by the model were actually correct.</a:t>
            </a:r>
          </a:p>
          <a:p>
            <a:r>
              <a:t>* **Recall:** Measures how many of the actual vehicles in the images were successfully detected.</a:t>
            </a:r>
          </a:p>
          <a:p>
            <a:r>
              <a:t>* **mAP@50:** Mean Average Precision using an Intersection over Union (IoU) of 0.50 as the threshold.</a:t>
            </a:r>
          </a:p>
          <a:p>
            <a:r>
              <a:t>* **mAP@50–95:** Average precision across IoU thresholds from 0.50 to 0.95, providing a stricter evaluation of bounding-box localization.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Detection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*(Conceptual representation of project outputs)*</a:t>
            </a:r>
          </a:p>
          <a:p>
            <a:r>
              <a:t>* **Input Image:** Raw traffic scene</a:t>
            </a:r>
          </a:p>
          <a:p>
            <a:r>
              <a:t>* **Detection:** Tight YOLOv8 bounding boxes</a:t>
            </a:r>
          </a:p>
          <a:p>
            <a:r>
              <a:t>* **Labels:** [Car], [Truck], [Motorcycle]</a:t>
            </a:r>
          </a:p>
          <a:p>
            <a:r>
              <a:t>* **Confidence Scores:** Provided for each detection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License Plate Detection: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**Goal:** Locate the exact coordinates of the Egyptian license plate.</a:t>
            </a:r>
          </a:p>
          <a:p>
            <a:r>
              <a:t>**Challenges:**</a:t>
            </a:r>
          </a:p>
          <a:p>
            <a:r>
              <a:t>* Plates occupy a very small pixel area.</a:t>
            </a:r>
          </a:p>
          <a:p>
            <a:r>
              <a:t>* Strict bounding boxes can accidentally clip characters.</a:t>
            </a:r>
          </a:p>
          <a:p>
            <a:r>
              <a:t>* Real-world distortion and varied illumination.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Plate Detection Model — YOLOv8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**Architecture:** Independent YOLOv8 Nano (`plate_best.pt`)</a:t>
            </a:r>
          </a:p>
          <a:p>
            <a:r>
              <a:t>* **Confidence Threshold:** 0.10 (Prioritizing high recall)</a:t>
            </a:r>
          </a:p>
          <a:p>
            <a:r>
              <a:t>* **Safety Padding:** +10% dynamic bounding box expansion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Plate Dataset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Treated as an independent object detection task.</a:t>
            </a:r>
          </a:p>
          <a:p>
            <a:r>
              <a:t>* Trained on localized plate datasets to focus on plate features rather than broad scene context.</a:t>
            </a:r>
          </a:p>
          <a:p>
            <a:r>
              <a:t>* Independent architecture allows parallel model updates without affecting vehicle detection.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Plate Detection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**Objective:** Maximize recall and bounding-box integrity.</a:t>
            </a:r>
          </a:p>
          <a:p>
            <a:r>
              <a:t>* **Metric Priority:** Capturing the plate is more important than perfect confidence scoring, as downstream OCR will validate the text.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Plate Detection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</a:t>
            </a:r>
          </a:p>
          <a:p>
            <a:r>
              <a:t>[ Vehicle Box ]</a:t>
            </a:r>
          </a:p>
          <a:p>
            <a:r>
              <a:t>↓</a:t>
            </a:r>
          </a:p>
          <a:p>
            <a:r>
              <a:t>[ YOLOv8 Plate Detector ]</a:t>
            </a:r>
          </a:p>
          <a:p>
            <a:r>
              <a:t>↓</a:t>
            </a:r>
          </a:p>
          <a:p>
            <a:r>
              <a:t>[ Plate Bounding Box ]</a:t>
            </a:r>
          </a:p>
          <a:p>
            <a:r>
              <a:t>↓</a:t>
            </a:r>
          </a:p>
          <a:p>
            <a:r>
              <a:t>[ Apply +10% Padding Margin ]</a:t>
            </a:r>
          </a:p>
          <a:p>
            <a:r>
              <a:t>↓</a:t>
            </a:r>
          </a:p>
          <a:p>
            <a:r>
              <a:t>[ Safe Plate Crop ]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Vehicle–Plate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**The Problem:**</a:t>
            </a:r>
          </a:p>
          <a:p>
            <a:r>
              <a:t>* We have a list of detected vehicles (from Model 1).</a:t>
            </a:r>
          </a:p>
          <a:p>
            <a:r>
              <a:t>* We have a list of detected plates (from Model 2).</a:t>
            </a:r>
          </a:p>
          <a:p>
            <a:r>
              <a:t>* How do we mathematically prove which plate belongs to which vehicle in a crowded scene?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Centroid-Based Matching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**Approach:** Centroid Containment, not standard IoU.</a:t>
            </a:r>
          </a:p>
          <a:p>
            <a:r>
              <a:t>* **Logic:** Calculate the exact center point (X, Y) of the license plate.</a:t>
            </a:r>
          </a:p>
          <a:p>
            <a:r>
              <a:t>* **Validation:** Check which vehicle's bounding box encloses this center point.</a:t>
            </a:r>
          </a:p>
          <a:p>
            <a:r>
              <a:t>* **Tie-Breaker:** Smallest containing bounding box.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```mermaid</a:t>
            </a:r>
          </a:p>
          <a:p>
            <a:r>
              <a:t>flowchart TD</a:t>
            </a:r>
          </a:p>
          <a:p>
            <a:r>
              <a:t>P[Plate Centroid: x=500, y=600]</a:t>
            </a:r>
          </a:p>
          <a:p>
            <a:r>
              <a:t>V1[Vehicle 1: Truck Box]</a:t>
            </a:r>
          </a:p>
          <a:p>
            <a:r>
              <a:t>V2[Vehicle 2: Car Box]</a:t>
            </a:r>
          </a:p>
          <a:p/>
          <a:p>
            <a:r>
              <a:t>P --&gt; |Inside? No| V1</a:t>
            </a:r>
          </a:p>
          <a:p>
            <a:r>
              <a:t>P --&gt; |Inside? Yes| V2</a:t>
            </a:r>
          </a:p>
          <a:p/>
          <a:p>
            <a:r>
              <a:t>V2 --&gt; Match[Matched Pair]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in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**Severe Occlusion:** If a vehicle completely blocks the lower half of another vehicle, centroid geometry may assign the plate to the occluding vehicle.</a:t>
            </a:r>
          </a:p>
          <a:p>
            <a:r>
              <a:t>* **Unmatched Plates:** Plates detected without a confident vehicle bounding box are safely handled as "Unknown Vehicle Type" rather than crashing the pipeline.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Arabic OCR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**Why standard OCR fails on Egyptian plates:**</a:t>
            </a:r>
          </a:p>
          <a:p>
            <a:r>
              <a:t>1. **Blue Header:** The top of the plate is solid blue, creating heavy visual noise.</a:t>
            </a:r>
          </a:p>
          <a:p>
            <a:r>
              <a:t>2. **Tilt:** Tilted Arabic text severely degrades recognition reliability.</a:t>
            </a:r>
          </a:p>
          <a:p>
            <a:r>
              <a:t>3. **Mixed Text:** Plates have distinct, un-separated zones for Arabic letters and numerals.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Plate Rectification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**Process:** Extracts the blue header mask via HSV thresholding.</a:t>
            </a:r>
          </a:p>
          <a:p>
            <a:r>
              <a:t>* **Geometry:** Calculates a `minAreaRect` angle based on the blue contour.</a:t>
            </a:r>
          </a:p>
          <a:p>
            <a:r>
              <a:t>* **Correction:** Rotates the image geometrically to be perfectly horizontal before text extraction.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 Header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**Logic:** Scans horizontal pixel averages across the mask.</a:t>
            </a:r>
          </a:p>
          <a:p>
            <a:r>
              <a:t>* **Cropping:** Dynamically crops off the top ~40% blue section, keeping a safe margin.</a:t>
            </a:r>
          </a:p>
          <a:p>
            <a:r>
              <a:t>* **Result:** Isolates the white body of the plate containing only the relevant text.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 Splitting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**Method:** Uses Canny edge detection to evaluate vertical lines.</a:t>
            </a:r>
          </a:p>
          <a:p>
            <a:r>
              <a:t>* **Execution:** Finds the empty vertical space in the middle of the plate.</a:t>
            </a:r>
          </a:p>
          <a:p>
            <a:r>
              <a:t>* **Output:** Splits the plate into two distinct images (Numbers side and Letters side).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Multi-Variant OCR + Voting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**Image Variants:** Raw Grayscale, CLAHE Contrast, Sharpened, Otsu Threshold, Adaptive Threshold.</a:t>
            </a:r>
          </a:p>
          <a:p>
            <a:r>
              <a:t>* **Engine:** PaddleOCR reads all 5 variants.</a:t>
            </a:r>
          </a:p>
          <a:p>
            <a:r>
              <a:t>* **Aggregation:** The system aggregates OCR predictions to select a more consistent and reliable final result, filtered by character class.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Pipeline 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```mermaid</a:t>
            </a:r>
          </a:p>
          <a:p>
            <a:r>
              <a:t>flowchart TD</a:t>
            </a:r>
          </a:p>
          <a:p>
            <a:r>
              <a:t>A[Detected Plate] --&gt; B[Tilt Rectification]</a:t>
            </a:r>
          </a:p>
          <a:p>
            <a:r>
              <a:t>B --&gt; C[Blue Header Removal]</a:t>
            </a:r>
          </a:p>
          <a:p>
            <a:r>
              <a:t>C --&gt; D[Arabic / Number Region Splitting]</a:t>
            </a:r>
          </a:p>
          <a:p>
            <a:r>
              <a:t>D --&gt; E[Multiple Preprocessing Variants]</a:t>
            </a:r>
          </a:p>
          <a:p>
            <a:r>
              <a:t>E --&gt; F[PaddleOCR]</a:t>
            </a:r>
          </a:p>
          <a:p>
            <a:r>
              <a:t>F --&gt; G[Character Filtering]</a:t>
            </a:r>
          </a:p>
          <a:p>
            <a:r>
              <a:t>G --&gt; H[Multi-Variant Aggregation]</a:t>
            </a:r>
          </a:p>
          <a:p>
            <a:r>
              <a:t>H --&gt; I[Final Plate Text]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Pipeline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**Integration:** Merging YOLO Vehicle, YOLO Plate, Geometric Matching, and PaddleOCR into a cohesive workflow.</a:t>
            </a:r>
          </a:p>
          <a:p>
            <a:r>
              <a:t>* **Data Flow:** Passes NumPy arrays directly between stages to minimize disk I/O.</a:t>
            </a:r>
          </a:p>
          <a:p>
            <a:r>
              <a:t>* **Error Handling:** Graceful fallbacks for missing weights or empty detections.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Frame-by-Frame Video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**Process:** Every frame is processed sequentially through the complete pipeline.</a:t>
            </a:r>
          </a:p>
          <a:p>
            <a:r>
              <a:t>* **Advantage:** Produces a complete, smoother output sequence and preserves the source video's FPS.</a:t>
            </a:r>
          </a:p>
          <a:p>
            <a:r>
              <a:t>* **Trade-off:** High computational workload compared to temporal sampling.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**Interface:** Real-time web dashboard (`app.py`).</a:t>
            </a:r>
          </a:p>
          <a:p>
            <a:r>
              <a:t>* **Flexibility:** Allows users to upload images and videos directly.</a:t>
            </a:r>
          </a:p>
          <a:p>
            <a:r>
              <a:t>* **Control:** Confidence sliders allow users to adjust Vehicle, Plate, and OCR thresholds on the fly.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System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**The End-to-End Journey:**</a:t>
            </a:r>
          </a:p>
          <a:p>
            <a:r>
              <a:t>1. Image/Video Uploaded to Streamlit</a:t>
            </a:r>
          </a:p>
          <a:p>
            <a:r>
              <a:t>2. Vehicles Detected (Green Boxes)</a:t>
            </a:r>
          </a:p>
          <a:p>
            <a:r>
              <a:t>3. Plates Located &amp; Cropped (Orange Boxes)</a:t>
            </a:r>
          </a:p>
          <a:p>
            <a:r>
              <a:t>4. Matched &amp; Preprocessed (Tilt removed, Blue removed)</a:t>
            </a:r>
          </a:p>
          <a:p>
            <a:r>
              <a:t>5. OCR applied via Voting</a:t>
            </a:r>
          </a:p>
          <a:p>
            <a:r>
              <a:t>6. Results rendered over original media.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**Robustness:** Successfully integrates multiple deep learning models into a streamlined tool.</a:t>
            </a:r>
          </a:p>
          <a:p>
            <a:r>
              <a:t>* **Adaptability:** Dynamic thresholds help users adapt to real-world edge cases.</a:t>
            </a:r>
          </a:p>
          <a:p>
            <a:r>
              <a:t>* **Effectiveness:** Custom preprocessing drastically improves the reliability of Arabic text recognition.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**Computational Cost:** Running multiple models sequentially frame-by-frame is heavy on CPU; optimal performance requires a GPU.</a:t>
            </a:r>
          </a:p>
          <a:p>
            <a:r>
              <a:t>* **Extreme Angles:** If the plate is tilted beyond 35 degrees, the `minAreaRect` logic can fail to flatten it.</a:t>
            </a:r>
          </a:p>
          <a:p>
            <a:r>
              <a:t>* **Severe Motion Blur:** Fast-moving vehicles at night produce blur that defeats thresholding variants.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**Tracking Algorithms:** Implement DeepSORT to track vehicles across video frames.</a:t>
            </a:r>
          </a:p>
          <a:p>
            <a:r>
              <a:t>* **Temporal OCR Aggregation:** Aggregate OCR predictions across multiple frames of the same car for more stable final recognition.</a:t>
            </a:r>
          </a:p>
          <a:p>
            <a:r>
              <a:t>* **Edge Deployment:** Export models to ONNX/TensorRT for lightweight edge-device deployment.</a:t>
            </a:r>
          </a:p>
          <a:p/>
          <a:p>
            <a:r>
              <a:t>#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